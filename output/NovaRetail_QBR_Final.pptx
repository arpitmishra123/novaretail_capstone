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>
                <a:solidFill>
                  <a:srgbClr val="FFFFFF"/>
                </a:solidFill>
              </a:rPr>
              <a:t>NovaRetail Performance Review</a:t>
            </a:r>
            <a:endParaRPr lang="en-US" sz="3200" dirty="0"/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>
                <a:solidFill>
                  <a:srgbClr val="DCE1EB"/>
                </a:solidFill>
              </a:rPr>
              <a:t>2026-Q2</a:t>
            </a:r>
            <a:endParaRPr lang="en-US" sz="1500" dirty="0"/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>
                <a:solidFill>
                  <a:srgbClr val="FFFFFF"/>
                </a:solidFill>
              </a:rPr>
              <a:t>1,280M USD</a:t>
            </a:r>
            <a:endParaRPr lang="en-US" sz="3200" dirty="0"/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>
                <a:solidFill>
                  <a:srgbClr val="DCE1EB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>
                <a:solidFill>
                  <a:srgbClr val="FFFFFF"/>
                </a:solidFill>
              </a:rPr>
              <a:t>4.5%</a:t>
            </a:r>
            <a:endParaRPr lang="en-US" sz="3200" dirty="0"/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>
                <a:solidFill>
                  <a:srgbClr val="DCE1EB"/>
                </a:solidFill>
              </a:rPr>
              <a:t>QoQ Revenue Growth</a:t>
            </a:r>
            <a:endParaRPr lang="en-US" sz="1100" dirty="0"/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>
                <a:solidFill>
                  <a:srgbClr val="FFFFFF"/>
                </a:solidFill>
              </a:rPr>
              <a:t>50</a:t>
            </a:r>
            <a:endParaRPr lang="en-US" sz="3200" dirty="0"/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>
                <a:solidFill>
                  <a:srgbClr val="DCE1EB"/>
                </a:solidFill>
              </a:rPr>
              <a:t>Average NPS</a:t>
            </a:r>
            <a:endParaRPr lang="en-US" sz="1100" dirty="0"/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>
                <a:solidFill>
                  <a:srgbClr val="FFFFFF"/>
                </a:solidFill>
              </a:rPr>
              <a:t>Revenue growth is positive, driven by strong performance in APAC. Customer satisfaction is stable overall, but regional disparities persist. Latin America shows significant operational challenges including stockouts and fraud.</a:t>
            </a:r>
            <a:endParaRPr lang="en-US" sz="1800" dirty="0"/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9" name="Picture 18" descr="globe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886200"/>
            <a:ext cx="1581912" cy="1581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t>Regional Performance Highlights</a:t>
            </a:r>
            <a:endParaRPr lang="en-US" sz="2400" dirty="0"/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t>• APAC leads with 8.2% QoQ revenue growth.</a:t>
            </a:r>
            <a:br/>
            <a:r>
              <a:t>• Latin America experienced a decline of -6.7% QoQ.</a:t>
            </a:r>
            <a:br/>
            <a:r>
              <a:t>• Regional performance varies significantly, requiring targeted strategies.</a:t>
            </a:r>
            <a:endParaRPr lang="en-US" sz="1350" dirty="0"/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pic>
        <p:nvPicPr>
          <p:cNvPr id="10" name="Picture 9" descr="slide_2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growth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t>Customer Experience Insights</a:t>
            </a:r>
            <a:endParaRPr lang="en-US" sz="2400" dirty="0"/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t>• Overall NPS is 49.75, indicating steady customer loyalty.</a:t>
            </a:r>
            <a:br/>
            <a:r>
              <a:t>• APAC region boasts the highest NPS at 62.</a:t>
            </a:r>
            <a:br/>
            <a:r>
              <a:t>• Latin America's NPS is notably low at 29, aligning with other regional challenges.</a:t>
            </a:r>
            <a:endParaRPr lang="en-US" sz="1350" dirty="0"/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10" name="Picture 9" descr="slide_3_n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customer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t>Operational Risk Assessment</a:t>
            </a:r>
            <a:endParaRPr lang="en-US" sz="2400" dirty="0"/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t>• Latin America faces the highest stockout rate at 12.5%.</a:t>
            </a:r>
            <a:br/>
            <a:r>
              <a:t>• Latin America also reports the highest number of fraud incidents (30).</a:t>
            </a:r>
            <a:br/>
            <a:r>
              <a:t>• APAC operates at high capacity (92.0%), nearing saturation.</a:t>
            </a:r>
            <a:endParaRPr lang="en-US" sz="1350" dirty="0"/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10" name="Picture 9" descr="slide_4_sto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risk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>
                <a:solidFill>
                  <a:srgbClr val="FFFFFF"/>
                </a:solidFill>
              </a:rPr>
              <a:t>Strategic Recommendations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>
                <a:solidFill>
                  <a:srgbClr val="FFFFFF"/>
                </a:solidFill>
              </a:rPr>
              <a:t>• Address Latin America's operational issues: reduce stockouts and combat fraud.</a:t>
            </a:r>
            <a:br/>
            <a:r>
              <a:rPr>
                <a:solidFill>
                  <a:srgbClr val="FFFFFF"/>
                </a:solidFill>
              </a:rPr>
              <a:t>• Investigate and mitigate the low NPS in Latin America.</a:t>
            </a:r>
            <a:br/>
            <a:r>
              <a:rPr>
                <a:solidFill>
                  <a:srgbClr val="FFFFFF"/>
                </a:solidFill>
              </a:rPr>
              <a:t>• Monitor APAC's high capacity utilization to prevent future stockouts.</a:t>
            </a:r>
            <a:endParaRPr lang="en-US" sz="1600" dirty="0"/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>
                <a:solidFill>
                  <a:srgbClr val="FFFFFF"/>
                </a:solidFill>
              </a:rPr>
              <a:t>Focusing on these key areas will drive sustained growth and improve overall business health.</a:t>
            </a:r>
            <a:endParaRPr lang="en-US" sz="1400" dirty="0"/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9" name="Picture 8" descr="lightbulb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